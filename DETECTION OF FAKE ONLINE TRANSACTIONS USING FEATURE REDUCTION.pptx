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D16DDD-FC72-485E-8BCC-BFA9927F27F0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8"/>
            <p14:sldId id="266"/>
            <p14:sldId id="267"/>
          </p14:sldIdLst>
        </p14:section>
        <p14:section name="Untitled Section" id="{87DB8FD1-3D54-4DCC-A9BA-5FDEF1B33FE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55ED5-79B0-4088-AF28-37D4EF0C9E3E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F8334-0310-473C-A450-CADFA7372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5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F8334-0310-473C-A450-CADFA73727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10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BE9A-8B95-05C6-A620-2EE68C695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64890-76EC-141A-3297-D8A220B2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725C5-68A3-ADF5-DC47-54D86C8C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5CC98-C63C-F8D6-EDEB-2B231932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BB011-FABA-F06D-D2C9-49CA3302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26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5BEF-E8B1-083B-B7DB-CB551B43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61C72-778F-7704-7FC0-E71AB066F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CD05B-E7E6-4C0E-816B-77980A79F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1AD41-676D-F94B-CDBD-2A07B6A39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60E3-7E8B-6074-F6E7-854896C6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3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9F4E-C4EF-CC09-9956-90563311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C1D6A-9F65-AF06-63ED-91DB949BC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06829-ED30-4F73-D8E8-C078CC7D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F2F5C-563A-52EC-2235-6835CA5B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DB8C1-4FD2-21EB-76BC-362543AB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3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EB0D-337C-2DEC-AB9C-0CF4938C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34813-CC2D-EE1D-E389-92D401C33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219CC-9D69-8E34-D2D6-8E50F8C3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647CF-DB41-A178-A0E1-8C4F138F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4182A-0418-D490-1536-8A15440B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FC9D6-8004-0609-FA30-5C47BDAF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7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64C3-83B8-865E-6348-3F5FEEE9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BA585-D1B6-EED3-FEB4-9E9C5B398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1DE0C-7A59-58A2-036D-EE8367563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D4DF1-DA6D-64A3-18AA-3CA2F42B5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AA5D9-5654-B692-39E7-9C8AC84F8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119F5-FED4-7E6C-C7D7-506D8806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54F292-348F-8C0C-BF98-13110F34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5F0D2-9F52-C843-D373-9C98B19D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0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CE43-CC88-7E5D-504E-8F09B2CE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BFC1E-B174-C751-0E56-F5EAABB6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274B1-D20C-AC9E-13C5-25FB3C8E8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D8B27-CE76-56C6-0D3F-5AA9D3BF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3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72AA13-E5F7-72CE-0D76-A25F5386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80E3A-60BD-8F3F-55BC-06AF8F36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8A50-5B27-2EB3-5938-E797A7D9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6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3151-DB90-9B33-E3B9-C59688E64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AEDF5-69D5-1A3A-7E0B-18BF1C484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4AE95-8BB9-78D1-D9B6-3752A2ED0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F67D5-0097-AFFF-2F02-B0D8C82A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DA215-5583-8DC4-4753-AC6C58A4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F4546-DF2C-D5F2-67BA-EAE570D9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5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8E5-008A-B8BD-E1EB-30AC320A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8393F-EB39-2BA8-7ABD-553192614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11410-D4EB-1B41-7BF1-3A0CB74D2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7895-913A-DA3E-2F59-1BE57F98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68F1F-19AE-7062-C6B4-492C15E1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08F74-C673-82D5-1B63-45543683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3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D55E-1B88-AB44-5BF0-3381C558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0D343-0862-6F15-99ED-E5D3DC5AA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3A5C4-CBA0-0FE6-AD60-B206D5BE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896BD-4B94-A63A-7F40-2E71DDF2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067A1-32CC-3EA3-932A-0D5634F5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0BC5D-1A0B-E22C-D6F5-965BD71F1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9DE20-5C3D-4C34-8D24-CB68FE122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8D0C8-F8D8-7830-06D0-FB690BBA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62BC1-CD15-9B06-8A26-FA378E98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DC426-69B6-D3E2-CF2F-A8AD9D43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4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9267A-2B7B-3265-222B-3941E295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5B0B-97AE-4459-2878-06A19D42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267D7-109C-F440-CFB1-3D76EFFB8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8090B-C8E2-4073-981A-8439C694E32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1704A-2C58-4CCD-4A54-ED0688ED8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2ECD-8119-06CA-9665-B51DDBA2B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A6045-E20F-4DF5-9604-E88A023B3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397C-2204-9866-D941-DC754F32E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DETECTION OF FAKE ONLINE TRANSACTIONS USING FEATURE REDUCTION AND MARGIN MAXIMISATION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3EFF1-50F7-DBF3-42B6-A4C79B24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854" y="3696630"/>
            <a:ext cx="4183117" cy="3051011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STUDENT NAME: B.SRI HARSHA</a:t>
            </a:r>
          </a:p>
          <a:p>
            <a:r>
              <a:rPr lang="en-US" dirty="0"/>
              <a:t>PIN NO             :2503A52L04</a:t>
            </a:r>
          </a:p>
          <a:p>
            <a:r>
              <a:rPr lang="en-US" dirty="0"/>
              <a:t>BRANCH         :CSE-AI&amp;ML</a:t>
            </a:r>
          </a:p>
          <a:p>
            <a:r>
              <a:rPr lang="en-US" dirty="0"/>
              <a:t>PROJECT NAME  :DETECTION OF FAKE ONLINE TRANSACTION. </a:t>
            </a:r>
          </a:p>
          <a:p>
            <a:r>
              <a:rPr lang="en-US" dirty="0"/>
              <a:t>UNDER THE GUIDENCE OF SOUTRICK DAD..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3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72A3-AD23-550D-7628-649C16A1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/>
              <a:t>PROBLEM STATEMENT: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DA050-6BC2-6F5B-0B25-FFC7A33EE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/>
              <a:t>Online Transaction Fraud</a:t>
            </a:r>
          </a:p>
          <a:p>
            <a:r>
              <a:rPr lang="en-US" sz="3600" dirty="0" err="1"/>
              <a:t>Unauthorised</a:t>
            </a:r>
            <a:r>
              <a:rPr lang="en-US" sz="3600" dirty="0"/>
              <a:t> transactions using stolen credentials</a:t>
            </a:r>
          </a:p>
          <a:p>
            <a:r>
              <a:rPr lang="en-US" sz="3600" b="1" dirty="0"/>
              <a:t>Why Detection Matters</a:t>
            </a:r>
          </a:p>
          <a:p>
            <a:r>
              <a:rPr lang="en-US" sz="3600" dirty="0"/>
              <a:t>Billions lost annually to fraudulent activities</a:t>
            </a:r>
          </a:p>
          <a:p>
            <a:r>
              <a:rPr lang="en-US" sz="3600" b="1" dirty="0"/>
              <a:t>Key Challenges</a:t>
            </a:r>
          </a:p>
          <a:p>
            <a:r>
              <a:rPr lang="en-US" sz="3600" dirty="0"/>
              <a:t>Massive datasets, extreme class imbalance, evolving fraud patterns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50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13B3-A3D8-6645-24C7-A2C0BCAC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C7C0-0A85-BAF2-7013-8779F76FB5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4000" b="1" dirty="0"/>
              <a:t>Input Data</a:t>
            </a:r>
          </a:p>
          <a:p>
            <a:r>
              <a:rPr lang="en-US" sz="4000" dirty="0"/>
              <a:t>Transaction features extracted</a:t>
            </a:r>
          </a:p>
          <a:p>
            <a:r>
              <a:rPr lang="en-US" sz="4000" b="1" dirty="0"/>
              <a:t>ML Model</a:t>
            </a:r>
          </a:p>
          <a:p>
            <a:r>
              <a:rPr lang="en-US" sz="4000" dirty="0"/>
              <a:t>PCA + SVM processing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D4FD01-9DF4-73D2-8534-A93A13D6A5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4000" b="1" dirty="0"/>
              <a:t>Output Result</a:t>
            </a:r>
          </a:p>
          <a:p>
            <a:r>
              <a:rPr lang="en-US" sz="4000" dirty="0"/>
              <a:t>Fraud or genuine classification</a:t>
            </a:r>
          </a:p>
          <a:p>
            <a:r>
              <a:rPr lang="en-US" sz="4000" dirty="0"/>
              <a:t>Real-time detection capability for immediate fraud prevention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12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5E90-D138-55C8-D497-B6856B2A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/>
              <a:t>DATASET DESCRIPTION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56A0-3774-AF28-6967-C9659DD45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239544"/>
          </a:xfrm>
        </p:spPr>
        <p:txBody>
          <a:bodyPr/>
          <a:lstStyle/>
          <a:p>
            <a:r>
              <a:rPr lang="en-US" sz="3600" b="1" dirty="0"/>
              <a:t>Feature Composition</a:t>
            </a:r>
          </a:p>
          <a:p>
            <a:r>
              <a:rPr lang="en-US" sz="3600" dirty="0"/>
              <a:t>Time: transaction timestamp</a:t>
            </a:r>
          </a:p>
          <a:p>
            <a:r>
              <a:rPr lang="en-US" sz="3600" dirty="0"/>
              <a:t>Amount: transaction value</a:t>
            </a:r>
          </a:p>
          <a:p>
            <a:r>
              <a:rPr lang="en-US" sz="3600" dirty="0"/>
              <a:t>V1–V28: PCA-transformed features</a:t>
            </a:r>
          </a:p>
          <a:p>
            <a:r>
              <a:rPr lang="en-US" sz="3600" dirty="0"/>
              <a:t>Class: fraud indicator (0/1)</a:t>
            </a:r>
          </a:p>
          <a:p>
            <a:r>
              <a:rPr lang="en-US" sz="3600" b="1" dirty="0"/>
              <a:t>PCA </a:t>
            </a:r>
            <a:r>
              <a:rPr lang="en-US" sz="3600" b="1" dirty="0" err="1"/>
              <a:t>Anonymisation</a:t>
            </a:r>
            <a:endParaRPr lang="en-US" sz="3600" b="1" dirty="0"/>
          </a:p>
          <a:p>
            <a:r>
              <a:rPr lang="en-US" sz="3600" dirty="0"/>
              <a:t>Original features transformed via Principal Component Analysis for privacy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15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2F08-046D-D57B-6847-56E7525D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 REDUCTION: PCA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C0328-0E44-F3A3-A819-5F63592ED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700"/>
            <a:ext cx="10515600" cy="4894263"/>
          </a:xfrm>
        </p:spPr>
        <p:txBody>
          <a:bodyPr/>
          <a:lstStyle/>
          <a:p>
            <a:r>
              <a:rPr lang="en-US" sz="4000" b="1" dirty="0"/>
              <a:t>Dimensionality Reduction</a:t>
            </a:r>
          </a:p>
          <a:p>
            <a:r>
              <a:rPr lang="en-US" sz="4000" dirty="0"/>
              <a:t>Transforms 30+ features into optimal components</a:t>
            </a:r>
          </a:p>
          <a:p>
            <a:r>
              <a:rPr lang="en-US" sz="4000" b="1" dirty="0"/>
              <a:t>Noise Removal</a:t>
            </a:r>
          </a:p>
          <a:p>
            <a:r>
              <a:rPr lang="en-US" sz="4000" dirty="0"/>
              <a:t>Eliminates redundant and correlated variables</a:t>
            </a:r>
          </a:p>
          <a:p>
            <a:r>
              <a:rPr lang="en-US" sz="4000" b="1" dirty="0"/>
              <a:t>Computational Efficiency</a:t>
            </a:r>
          </a:p>
          <a:p>
            <a:r>
              <a:rPr lang="en-US" sz="4000" dirty="0"/>
              <a:t>Reduces training time and model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27AD-D5B8-2AF2-4522-2D771524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SUPPORT VECTOR MACHINE (SVM)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60BE-DB47-4731-9010-1AC5AA113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4995863"/>
          </a:xfrm>
        </p:spPr>
        <p:txBody>
          <a:bodyPr/>
          <a:lstStyle/>
          <a:p>
            <a:r>
              <a:rPr lang="en-US" sz="3600" b="1" dirty="0"/>
              <a:t>Maximum Margin Hyperplane</a:t>
            </a:r>
          </a:p>
          <a:p>
            <a:r>
              <a:rPr lang="en-US" sz="3600" dirty="0"/>
              <a:t>Creates optimal decision boundary </a:t>
            </a:r>
            <a:r>
              <a:rPr lang="en-US" sz="3600" dirty="0" err="1"/>
              <a:t>maximising</a:t>
            </a:r>
            <a:r>
              <a:rPr lang="en-US" sz="3600" dirty="0"/>
              <a:t> separation between classes</a:t>
            </a:r>
          </a:p>
          <a:p>
            <a:r>
              <a:rPr lang="en-US" sz="3600" b="1" dirty="0"/>
              <a:t>Why SVM for Fraud?</a:t>
            </a:r>
          </a:p>
          <a:p>
            <a:r>
              <a:rPr lang="en-US" sz="3600" dirty="0"/>
              <a:t>Effective with high-dimensional data</a:t>
            </a:r>
          </a:p>
          <a:p>
            <a:r>
              <a:rPr lang="en-US" sz="3600" dirty="0"/>
              <a:t>Robust to outliers</a:t>
            </a:r>
          </a:p>
          <a:p>
            <a:r>
              <a:rPr lang="en-US" sz="3600" dirty="0"/>
              <a:t>Works well with class imbalance</a:t>
            </a:r>
          </a:p>
          <a:p>
            <a:r>
              <a:rPr lang="en-US" sz="3600" dirty="0"/>
              <a:t>Clear margin provides confidence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8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5218-7E81-C621-79FA-FD061D86B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1604D-4C55-FF17-639A-07214456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800"/>
            <a:ext cx="10515600" cy="4983163"/>
          </a:xfrm>
        </p:spPr>
        <p:txBody>
          <a:bodyPr/>
          <a:lstStyle/>
          <a:p>
            <a:r>
              <a:rPr lang="en-US" sz="3600" b="1" dirty="0"/>
              <a:t>Input Layer</a:t>
            </a:r>
          </a:p>
          <a:p>
            <a:r>
              <a:rPr lang="en-US" sz="3600" dirty="0"/>
              <a:t>Raw transaction data collection</a:t>
            </a:r>
          </a:p>
          <a:p>
            <a:r>
              <a:rPr lang="en-US" sz="3600" b="1" dirty="0"/>
              <a:t>Preprocessing</a:t>
            </a:r>
          </a:p>
          <a:p>
            <a:r>
              <a:rPr lang="en-US" sz="3600" dirty="0"/>
              <a:t>Feature scaling and </a:t>
            </a:r>
            <a:r>
              <a:rPr lang="en-US" sz="3600" dirty="0" err="1"/>
              <a:t>normalisation</a:t>
            </a:r>
            <a:endParaRPr lang="en-US" sz="3600" dirty="0"/>
          </a:p>
          <a:p>
            <a:r>
              <a:rPr lang="fr-FR" sz="3600" b="1" dirty="0"/>
              <a:t>Model </a:t>
            </a:r>
            <a:r>
              <a:rPr lang="fr-FR" sz="3600" b="1" dirty="0" err="1"/>
              <a:t>Inference</a:t>
            </a:r>
            <a:endParaRPr lang="fr-FR" sz="3600" b="1" dirty="0"/>
          </a:p>
          <a:p>
            <a:r>
              <a:rPr lang="fr-FR" sz="3600" dirty="0"/>
              <a:t>PCA transformation + SVM classification</a:t>
            </a:r>
          </a:p>
          <a:p>
            <a:r>
              <a:rPr lang="en-US" sz="3600" b="1" dirty="0"/>
              <a:t>Prediction Output</a:t>
            </a:r>
          </a:p>
          <a:p>
            <a:r>
              <a:rPr lang="en-US" sz="3600" dirty="0"/>
              <a:t>Fraud probability and classification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94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A268-B22C-7E5A-651D-F375F7EC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TRAINING PROCESS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A6494-1B7E-182E-F2DD-E9C0A8AC1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900"/>
            <a:ext cx="10515600" cy="5072063"/>
          </a:xfrm>
        </p:spPr>
        <p:txBody>
          <a:bodyPr/>
          <a:lstStyle/>
          <a:p>
            <a:r>
              <a:rPr lang="en-US" sz="3600" b="1" dirty="0"/>
              <a:t>Data Cleaning</a:t>
            </a:r>
          </a:p>
          <a:p>
            <a:r>
              <a:rPr lang="en-US" sz="3600" dirty="0"/>
              <a:t>Missing values, outliers removed</a:t>
            </a:r>
          </a:p>
          <a:p>
            <a:r>
              <a:rPr lang="en-US" sz="3600" b="1" dirty="0"/>
              <a:t>Feature Scaling</a:t>
            </a:r>
          </a:p>
          <a:p>
            <a:r>
              <a:rPr lang="en-US" sz="3600" dirty="0" err="1"/>
              <a:t>Standardisation</a:t>
            </a:r>
            <a:r>
              <a:rPr lang="en-US" sz="3600" dirty="0"/>
              <a:t> for SVM </a:t>
            </a:r>
            <a:r>
              <a:rPr lang="en-US" sz="3600" dirty="0" err="1"/>
              <a:t>optimisation</a:t>
            </a:r>
            <a:endParaRPr lang="en-US" sz="3600" dirty="0"/>
          </a:p>
          <a:p>
            <a:r>
              <a:rPr lang="en-US" sz="3600" b="1" dirty="0"/>
              <a:t>Train-Test Split</a:t>
            </a:r>
          </a:p>
          <a:p>
            <a:r>
              <a:rPr lang="en-US" sz="3600" dirty="0"/>
              <a:t>80/20 split with stratification</a:t>
            </a:r>
          </a:p>
          <a:p>
            <a:r>
              <a:rPr lang="en-US" sz="3600" b="1" dirty="0"/>
              <a:t>Model Training</a:t>
            </a:r>
          </a:p>
          <a:p>
            <a:r>
              <a:rPr lang="en-US" sz="3600" dirty="0"/>
              <a:t>SVM fit with cross-validation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16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C176-CDAB-5C90-4A08-6EBDA015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PERFORMANCE METRICS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6FD1D-1504-8AAE-7A7B-0671D4340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Accuracy</a:t>
            </a:r>
          </a:p>
          <a:p>
            <a:r>
              <a:rPr lang="en-US" sz="3200" dirty="0"/>
              <a:t>Overall correctness of predictions</a:t>
            </a:r>
          </a:p>
          <a:p>
            <a:r>
              <a:rPr lang="en-US" sz="3200" b="1" dirty="0"/>
              <a:t>Precision</a:t>
            </a:r>
          </a:p>
          <a:p>
            <a:r>
              <a:rPr lang="en-US" sz="3200" dirty="0"/>
              <a:t>Proportion of flagged fraud that is actual fraud</a:t>
            </a:r>
          </a:p>
          <a:p>
            <a:r>
              <a:rPr lang="en-US" sz="3200" b="1" dirty="0"/>
              <a:t>Recall</a:t>
            </a:r>
          </a:p>
          <a:p>
            <a:r>
              <a:rPr lang="en-US" sz="3200" dirty="0"/>
              <a:t>Proportion of actual fraud successfully detected</a:t>
            </a:r>
          </a:p>
          <a:p>
            <a:r>
              <a:rPr lang="en-US" sz="3200" b="1" dirty="0"/>
              <a:t>F1 Score</a:t>
            </a:r>
          </a:p>
          <a:p>
            <a:r>
              <a:rPr lang="en-US" sz="3200" dirty="0"/>
              <a:t>Harmonic mean balancing precision and recall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35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NN Fraud Detection with Neo4j: System to Stop Fraud Rings">
            <a:extLst>
              <a:ext uri="{FF2B5EF4-FFF2-40B4-BE49-F238E27FC236}">
                <a16:creationId xmlns:a16="http://schemas.microsoft.com/office/drawing/2014/main" id="{AB8D2D5B-C42B-48BF-640D-89613B506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7200" y="1168400"/>
            <a:ext cx="7010400" cy="568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2DFFD3-22AC-4FE6-4908-5C1CF29AB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100" y="1358900"/>
            <a:ext cx="6159500" cy="5499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829458-5E9A-B3DC-414C-E352BF9DF1E0}"/>
              </a:ext>
            </a:extLst>
          </p:cNvPr>
          <p:cNvSpPr txBox="1"/>
          <p:nvPr/>
        </p:nvSpPr>
        <p:spPr>
          <a:xfrm>
            <a:off x="6756400" y="-139700"/>
            <a:ext cx="4064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dirty="0"/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r>
              <a:rPr lang="en-US" sz="4800" dirty="0"/>
              <a:t>l</a:t>
            </a:r>
          </a:p>
          <a:p>
            <a:endParaRPr lang="en-US" sz="4800" dirty="0"/>
          </a:p>
          <a:p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098A6-29AD-5774-C771-382913AEB334}"/>
              </a:ext>
            </a:extLst>
          </p:cNvPr>
          <p:cNvSpPr txBox="1"/>
          <p:nvPr/>
        </p:nvSpPr>
        <p:spPr>
          <a:xfrm>
            <a:off x="4248150" y="-76200"/>
            <a:ext cx="5289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OUTPUT DIAGRAMS</a:t>
            </a:r>
          </a:p>
        </p:txBody>
      </p:sp>
    </p:spTree>
    <p:extLst>
      <p:ext uri="{BB962C8B-B14F-4D97-AF65-F5344CB8AC3E}">
        <p14:creationId xmlns:p14="http://schemas.microsoft.com/office/powerpoint/2010/main" val="2352633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0DF9-624D-DECE-D2DC-F8D1C70A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&amp; 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8DDC0-9C09-80EF-3182-FDD54B361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5700"/>
            <a:ext cx="10515600" cy="5021263"/>
          </a:xfrm>
        </p:spPr>
        <p:txBody>
          <a:bodyPr/>
          <a:lstStyle/>
          <a:p>
            <a:r>
              <a:rPr lang="en-US" sz="3600" b="1" dirty="0"/>
              <a:t>Visual Results</a:t>
            </a:r>
          </a:p>
          <a:p>
            <a:r>
              <a:rPr lang="en-US" sz="3600" dirty="0"/>
              <a:t>Confusion matrix showing true/false positives</a:t>
            </a:r>
          </a:p>
          <a:p>
            <a:r>
              <a:rPr lang="en-US" sz="3600" dirty="0"/>
              <a:t>ROC curve with AUC score</a:t>
            </a:r>
          </a:p>
          <a:p>
            <a:r>
              <a:rPr lang="en-US" sz="3600" dirty="0"/>
              <a:t>Precision-recall curves</a:t>
            </a:r>
          </a:p>
          <a:p>
            <a:r>
              <a:rPr lang="en-US" sz="3600" dirty="0"/>
              <a:t>Feature importance analysis</a:t>
            </a:r>
          </a:p>
          <a:p>
            <a:r>
              <a:rPr lang="en-US" sz="3600" b="1" dirty="0"/>
              <a:t>Key Advantages</a:t>
            </a:r>
          </a:p>
          <a:p>
            <a:r>
              <a:rPr lang="en-US" sz="3600" dirty="0"/>
              <a:t>Fast detection, accurate predictions, handles large datasets efficiently</a:t>
            </a:r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622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649E-47E6-C97E-5B0C-631D2A2F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50" y="457200"/>
            <a:ext cx="10515600" cy="4651375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CONCLUSION:</a:t>
            </a:r>
            <a:r>
              <a:rPr lang="en-US" sz="4900" dirty="0"/>
              <a:t> PCA-based dimensionality reduction combined with SVM margin </a:t>
            </a:r>
            <a:r>
              <a:rPr lang="en-US" sz="4900" dirty="0" err="1"/>
              <a:t>maximisation</a:t>
            </a:r>
            <a:r>
              <a:rPr lang="en-US" sz="4900" dirty="0"/>
              <a:t> effectively identifies fraudulent transactions with strong precision-recall balance, demonstrating practical viability for real-time banking applications..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C7F26-7FCB-C9C9-ED6F-DD1FC1175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4995863"/>
            <a:ext cx="10515600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7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371</Words>
  <Application>Microsoft Office PowerPoint</Application>
  <PresentationFormat>Widescreen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DETECTION OF FAKE ONLINE TRANSACTIONS USING FEATURE REDUCTION AND MARGIN MAXIMISATION</vt:lpstr>
      <vt:lpstr>PROBLEM STATEMENT: </vt:lpstr>
      <vt:lpstr>PROJECT OVERVIEW </vt:lpstr>
      <vt:lpstr>DATASET DESCRIPTION </vt:lpstr>
      <vt:lpstr>FEATURE REDUCTION: PCA </vt:lpstr>
      <vt:lpstr>SUPPORT VECTOR MACHINE (SVM) </vt:lpstr>
      <vt:lpstr>SYSTEM ARCHITECTURE </vt:lpstr>
      <vt:lpstr>MODEL TRAINING PROCESS </vt:lpstr>
      <vt:lpstr>PERFORMANCE METRICS </vt:lpstr>
      <vt:lpstr>PowerPoint Presentation</vt:lpstr>
      <vt:lpstr>RESULTS &amp; CONCLUSION </vt:lpstr>
      <vt:lpstr>CONCLUSION: PCA-based dimensionality reduction combined with SVM margin maximisation effectively identifies fraudulent transactions with strong precision-recall balance, demonstrating practical viability for real-time banking applications..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Harsha</dc:creator>
  <cp:lastModifiedBy>Rishi Harsha</cp:lastModifiedBy>
  <cp:revision>1</cp:revision>
  <dcterms:created xsi:type="dcterms:W3CDTF">2026-04-14T15:32:17Z</dcterms:created>
  <dcterms:modified xsi:type="dcterms:W3CDTF">2026-04-14T16:03:01Z</dcterms:modified>
</cp:coreProperties>
</file>